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slideMaster3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_rels/presentation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</p:sldMasterIdLst>
  <p:sldIdLst>
    <p:sldId id="256" r:id="rId5"/>
    <p:sldId id="257" r:id="rId6"/>
    <p:sldId id="258" r:id="rId7"/>
    <p:sldId id="259" r:id="rId8"/>
    <p:sldId id="260" r:id="rId9"/>
    <p:sldId id="261" r:id="rId10"/>
  </p:sldIdLst>
  <p:sldSz cx="9144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D104CAC-0205-4657-B936-61E1251BB6A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ZA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ZA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BC29950-3673-4F16-B032-0495F517598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ZA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6E423EB-2A20-4B45-B7FF-A846E83E349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ZA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4015800" cy="452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0200"/>
            <a:ext cx="4015800" cy="452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81BF21F-4FDA-454C-8917-B6A75965B42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ZA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C01A081-5686-457C-9F1A-3EA986E8A83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ZA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4680"/>
            <a:ext cx="8229240" cy="5297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ZA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94B40AF2-D853-40FA-A936-5E5F0FF134B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ZA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0200"/>
            <a:ext cx="4015800" cy="452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96432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7DB379A-C095-4F17-A2DA-E4B6D183CEB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ZA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4015800" cy="452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020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96432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1D9E2A1-67E0-4E1D-99D7-3D8CBD6AB81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ZA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020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964320"/>
            <a:ext cx="822924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1B72358-797B-4940-BEF0-E766B40F7CE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ZA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964320"/>
            <a:ext cx="822924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1E73F7D-C127-4FCB-91DB-2A5AC105D76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ZA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020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96432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96432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B085319-258C-42C6-82CE-E2F14B95071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ZA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26496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0200"/>
            <a:ext cx="26496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0200"/>
            <a:ext cx="26496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964320"/>
            <a:ext cx="26496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964320"/>
            <a:ext cx="26496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964320"/>
            <a:ext cx="26496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2B8CA3D-7887-432C-8509-7332DFED52F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ZA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029869A4-F785-4371-8E9F-305D5D0FB21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ZA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ZA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73E19EE0-E044-4813-8DF6-D595F3F99E3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ZA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61800FB2-117B-46A9-AF16-CC8132A6BDA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ZA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4015800" cy="452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0200"/>
            <a:ext cx="4015800" cy="452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080322D3-FDD7-4A9A-B2C8-D317792A0EB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ZA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F84546CF-8E32-4C89-8335-FF861D67333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ZA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4680"/>
            <a:ext cx="8229240" cy="5297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ZA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9F32D0F3-A5AC-4042-974A-975979DCDA6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ZA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0200"/>
            <a:ext cx="4015800" cy="452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96432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FD7954D7-698E-43AE-9C54-D86F113E83F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ZA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4015800" cy="452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020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96432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C2273E30-0F12-42FB-A588-1579DF774C8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ZA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020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964320"/>
            <a:ext cx="822924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257F9DB8-BF7C-4DAA-B82C-E8888A84AFB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ZA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964320"/>
            <a:ext cx="822924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F602593E-0367-457D-AAC5-9B7773FF536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ZA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020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96432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96432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6E82F779-F0C5-42DC-A67B-84BEFC02A11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ZA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26496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0200"/>
            <a:ext cx="26496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0200"/>
            <a:ext cx="26496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964320"/>
            <a:ext cx="26496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964320"/>
            <a:ext cx="26496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964320"/>
            <a:ext cx="26496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8BB64777-B7DE-4445-A996-B49D14EBFD7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ZA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D3FB59B7-4027-4591-B5EF-E95D5F1CED5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ZA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ZA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DDFEFF89-7426-4CDC-952E-B51CB12303F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ZA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96B32C02-FA5C-40C2-B2B1-983463ACF2F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ZA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4015800" cy="452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0200"/>
            <a:ext cx="4015800" cy="452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92C5DC51-FE44-4FE4-9D2C-E0F31D4E92C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ZA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B3856434-06A4-4DFC-B62D-1B243414CB8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ZA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4680"/>
            <a:ext cx="8229240" cy="5297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ZA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9DC0193B-A460-4BBF-B2EE-F77D3E1D829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ZA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0200"/>
            <a:ext cx="4015800" cy="452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96432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92F8CEBF-4938-441C-9223-4F87A1D8C2E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ZA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4015800" cy="452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020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96432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A9DBBD58-68D1-48D9-B4CC-E3B5D9C7910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ZA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020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964320"/>
            <a:ext cx="822924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A725E127-E248-47CB-988F-F81359DA97E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ZA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964320"/>
            <a:ext cx="822924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8014E577-5281-4BC9-B5CF-D64DC87B959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ZA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020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96432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964320"/>
            <a:ext cx="40158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2EF47126-5B09-4AAD-A36D-9DAA8D74690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ZA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26496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0200"/>
            <a:ext cx="26496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0200"/>
            <a:ext cx="26496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964320"/>
            <a:ext cx="26496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964320"/>
            <a:ext cx="26496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964320"/>
            <a:ext cx="2649600" cy="215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412D7F77-A4FF-4D8F-8A3A-A300E0B8C9E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ZA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 </a:t>
            </a:r>
            <a:endParaRPr b="0" lang="en-ZA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ZA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ZA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ZA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CB4AB72-9EA6-455B-A212-F973909DF61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6</a:t>
            </a:fld>
            <a:endParaRPr b="0" lang="en-ZA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ZA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ZA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ZA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ZA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0C196BD-F5BA-4EDB-9563-4E19F7316E4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ZA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ZA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ZA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ZA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ZA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072D4D6-565F-4AAB-A44D-02B0DEAFE1E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ZA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7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7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Water Quality Prediction Outcomes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ubTitle"/>
          </p:nvPr>
        </p:nvSpPr>
        <p:spPr>
          <a:xfrm>
            <a:off x="1371600" y="3886200"/>
            <a:ext cx="6400440" cy="1752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r>
              <a:rPr b="0" lang="en-ZA" sz="3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Random Forest Model Results</a:t>
            </a:r>
            <a:endParaRPr b="0" lang="en-ZA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Actual Water Quality Outcomes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26" name="Picture 2" descr="actual_water_quality.png"/>
          <p:cNvPicPr/>
          <p:nvPr/>
        </p:nvPicPr>
        <p:blipFill>
          <a:blip r:embed="rId1"/>
          <a:stretch/>
        </p:blipFill>
        <p:spPr>
          <a:xfrm>
            <a:off x="914400" y="1371600"/>
            <a:ext cx="6400440" cy="4266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Predicted Water Quality Outcomes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28" name="Picture 2" descr="predicted_water_quality.png"/>
          <p:cNvPicPr/>
          <p:nvPr/>
        </p:nvPicPr>
        <p:blipFill>
          <a:blip r:embed="rId1"/>
          <a:stretch/>
        </p:blipFill>
        <p:spPr>
          <a:xfrm>
            <a:off x="914400" y="1371600"/>
            <a:ext cx="6400440" cy="4266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Model Performance: Confusion Matrix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30" name="Picture 2" descr="confusion_matrix_quality.png"/>
          <p:cNvPicPr/>
          <p:nvPr/>
        </p:nvPicPr>
        <p:blipFill>
          <a:blip r:embed="rId1"/>
          <a:stretch/>
        </p:blipFill>
        <p:spPr>
          <a:xfrm>
            <a:off x="1371600" y="1371600"/>
            <a:ext cx="5486040" cy="43887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Feature Comparison by Actual Water Quality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32" name="Picture 2" descr="feature_comparison_quality.png"/>
          <p:cNvPicPr/>
          <p:nvPr/>
        </p:nvPicPr>
        <p:blipFill>
          <a:blip r:embed="rId1"/>
          <a:stretch/>
        </p:blipFill>
        <p:spPr>
          <a:xfrm>
            <a:off x="914400" y="1371600"/>
            <a:ext cx="6400440" cy="3200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Key Takeaways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4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- Random Forest model predicts water quality with high accuracy: 95.45%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- 'Good' and 'Poor' water quality samples are predicted accurately.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- Minor misclassifications occur in 'Moderate' samples.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- Features like hardness, chlorine, temperature, and pH are highly predictive.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- The model can support water quality monitoring and decision-making.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EasyOffice/7.6.2.1.0$Windows_X86_64 LibreOffice_project/0bc4d647150f05f02b71ccb5539a4012b57f1faf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en-ZA</dc:language>
  <cp:lastModifiedBy>Steve Canny</cp:lastModifiedBy>
  <dcterms:modified xsi:type="dcterms:W3CDTF">2013-01-27T09:15:58Z</dcterms:modified>
  <cp:revision>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
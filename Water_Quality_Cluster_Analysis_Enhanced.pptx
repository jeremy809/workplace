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26B80A-6E2C-4ADA-8430-B125434E36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Z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F8EAD3-0A45-44F1-A113-E25B3182B8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5A5FC-960D-405F-811A-1137D1B04F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9C3B00-0894-4CF7-B091-4DAF5963F3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D47A96-B27C-4EE4-863B-11AF361CCF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Z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01FDF-F6B2-4037-8F73-3483557C59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09EB62-FD90-4126-BABF-A5362DA546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DD2570-5A37-4CA7-A93C-83B2A2F785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9CA4AD-C680-4AD5-BF3C-EB0AC8C16E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8331F-BC5C-46A8-BA62-73BA29F1BE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954E38-F655-4296-A6AE-4229ADBCF1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EBEFDC-CA1F-4771-AB35-595A16244A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DBB072-4A4E-4F0C-A7DA-F350A62390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Z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0A3337-8E67-4AFB-B372-AA4287AB23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DF9E75-3424-432E-A518-72CDF3635E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B2FDD0-C1C2-4700-8DFC-DD0F1F9680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6C8CCD-910E-44B0-BDF2-4C179A8375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Z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B9103E-BE0A-4408-BE2C-E3E1EE1642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99ED57-4CB5-44E4-B065-5A684690E6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1CBF3D-720B-43BD-8E05-2AD37D0B09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973E81-9E1B-47C2-87D7-CEF44E6B37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AD6CDC-5876-4CE0-AEB5-A2FB1B1544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87330D-3898-4C09-BE69-DEB05077B2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D1CD7D-F744-4FEE-B438-BF74F509D8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2F7CE6-B64F-425E-9C26-DA1D3FFC77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Z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64A2CD9-D87C-4AA2-A3A7-5283274D94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A6C4400-F4F5-4F02-A23A-AE704957AF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7CE56F4-7989-4DEE-80A5-577AB9275C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88AE18B-7CFC-4BB7-B5D4-4C919300C1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Z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CD39457-22F7-4DAA-B42F-7B2634D17D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A2F01F6-E2CB-4BC8-A630-234A6EC825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62987B5-0A33-4A81-A3EB-A45CBE6482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7C04E2A-3E51-4890-A2D8-A6B8553A6B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EA17094-148F-448E-B769-E2B3E60F34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E74AECA-545B-4A5B-A6CD-39AAE5AECD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E498C6E-4879-4353-861F-DDFA6B8BCE5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Z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Z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Z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Z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BFB9C3-BA87-4AE0-B1D4-1387E4D1ED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Z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Z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Z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Z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Z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82FA64-0059-4D84-A4FA-CE0AE525D9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Z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Z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Z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Z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Z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24934B-8C77-4719-A03F-640C9DE4EB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Z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Water Quality Cluster Analysis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ZA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Random Forest Classification Outcomes</a:t>
            </a:r>
            <a:endParaRPr b="0" lang="en-ZA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Dataset Overview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Total samples: 219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Total features: 19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Target: Cluster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Numeric features used for modeling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Cluster Distribution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8" name="Picture 2" descr="cluster_distribution.png"/>
          <p:cNvPicPr/>
          <p:nvPr/>
        </p:nvPicPr>
        <p:blipFill>
          <a:blip r:embed="rId1"/>
          <a:stretch/>
        </p:blipFill>
        <p:spPr>
          <a:xfrm>
            <a:off x="914400" y="1371600"/>
            <a:ext cx="640044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Feature Comparison Across Clusters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0" name="Picture 2" descr="feature_comparison.png"/>
          <p:cNvPicPr/>
          <p:nvPr/>
        </p:nvPicPr>
        <p:blipFill>
          <a:blip r:embed="rId1"/>
          <a:stretch/>
        </p:blipFill>
        <p:spPr>
          <a:xfrm>
            <a:off x="914400" y="1371600"/>
            <a:ext cx="6400440" cy="320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Normalized Confusion Matrix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2" name="Picture 2" descr="confusion_matrix_norm.png"/>
          <p:cNvPicPr/>
          <p:nvPr/>
        </p:nvPicPr>
        <p:blipFill>
          <a:blip r:embed="rId1"/>
          <a:stretch/>
        </p:blipFill>
        <p:spPr>
          <a:xfrm>
            <a:off x="1371600" y="1371600"/>
            <a:ext cx="5486040" cy="438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Evaluation Metrics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Accuracy: 0.9545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Weighted Precision: 0.9561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Weighted Recall: 0.9545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Weighted F1-score: 0.9527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Cross-validation mean F1-score: 0.912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Cross-Validation F1 Scores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6" name="Picture 2" descr="cv_f1_scores.png"/>
          <p:cNvPicPr/>
          <p:nvPr/>
        </p:nvPicPr>
        <p:blipFill>
          <a:blip r:embed="rId1"/>
          <a:stretch/>
        </p:blipFill>
        <p:spPr>
          <a:xfrm>
            <a:off x="914400" y="1371600"/>
            <a:ext cx="640044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Key Takeaways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Random Forest achieved high accuracy (~95%) and strong F1-scores.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Clusters with fewer samples (e.g., Cluster 2) showed some misclassifications.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Numeric features such as hardness, chlorine, temperature, and pH are highly predictive.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Model generalizes well across folds; can be deployed for water quality prediction.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Future improvements: collect more data, engineer additional features, explore other ensemble models.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EasyOffice/7.6.2.1.0$Windows_X86_64 LibreOffice_project/0bc4d647150f05f02b71ccb5539a4012b57f1faf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en-ZA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